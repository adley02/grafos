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E731D-59B7-4564-AE18-47C7BB3A51CB}" v="349" dt="2026-09-09T18:53:02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45419-1EA8-447E-9A6B-B3274469AFCD}" type="datetimeFigureOut">
              <a:t>9/9/2026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16E4C-6585-4FDF-A535-F104C575474A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31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problema Dominoes 2 e os integrantes. Dizer que o foco da solução é modelar dominós como grafo direcionado e usar DFS para contar todos os dominós alcançáveis.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explicar que cada par x y indica uma queda em cadeia. Na instância pequena, 1 derruba 2 e 2 derruba 3. Como o dominó empurrado é o 2, apenas 2 e 3 caem, então a resposta é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defender por que o grafo é direcionado. O dominó 1 derrubar o 2 não significa que o 2 derrube o 1. Essa modelagem é a base para escolher Digraph em vez de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dizer que a representação é lista de adjacência. O material de referência usa Bag, mas o trabalho aceita lista de adjacência; por isso foi usado list nativo do Python, mantendo a lógica e simplificando a submissão no Kattis.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explicar o núcleo da DFS sem ler tudo. Marcar o vértice significa que o dominó caiu. O contador aumenta uma vez. Depois percorremos os vizinhos ainda não marcados. BFS também resolveria, mas DFS é suficiente e direta para alcançabilidade.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sugerida: mostrar rapidamente o print do Kattis e a instância de teste. Encerrar com a complexidade: cada vértice é visitado no máximo uma vez e as arestas são percorridas durante a busca, portanto O(V+E), com leitura dos dominós iniciais O(L).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94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Trabalho Prático 1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914400" y="126187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00" b="1" dirty="0">
                <a:solidFill>
                  <a:srgbClr val="FFFFFF"/>
                </a:solidFill>
              </a:rPr>
              <a:t>Dominoes 2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1371600" y="192024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AF6FF"/>
                </a:solidFill>
              </a:rPr>
              <a:t>Modelagem, representação computacional e DFS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34640" y="4663440"/>
            <a:ext cx="6492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</a:rPr>
              <a:t>Arthur Gomes de Aguiar — 1810460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</a:rPr>
              <a:t>Guilherme Adley — 2020670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011680" y="5897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FF"/>
                </a:solidFill>
              </a:rPr>
              <a:t>Orientador: Prof. Me. Ricardo Carubbi  •  Universidade de Fortaleza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7512" y="8595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208A"/>
                </a:solidFill>
              </a:rPr>
              <a:t>Entrada, saída e ideia do Dominoes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325880"/>
            <a:ext cx="4114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A1B2E"/>
                </a:solidFill>
              </a:rPr>
              <a:t>O enunciado fornece n dominós, m relações de queda e l dominós empurrados manualmente. A resposta é a quantidade total de dominós que caem após a propagação.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852928"/>
            <a:ext cx="30175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Relação x 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se x cai, y também cai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767328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877056"/>
            <a:ext cx="301752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Saída: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quantidade total de dominós derrubados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32120" y="2807208"/>
            <a:ext cx="868680" cy="0"/>
          </a:xfrm>
          <a:prstGeom prst="line">
            <a:avLst/>
          </a:prstGeom>
          <a:noFill/>
          <a:ln w="2794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452360" y="2807208"/>
            <a:ext cx="868680" cy="0"/>
          </a:xfrm>
          <a:prstGeom prst="line">
            <a:avLst/>
          </a:prstGeom>
          <a:noFill/>
          <a:ln w="2794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047488" y="2560320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26791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31152" y="2560320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26791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823960" y="2560320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23960" y="26791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1856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208A"/>
                </a:solidFill>
              </a:rPr>
              <a:t>exemplo: 1 → 2 → 3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022592" y="3566160"/>
            <a:ext cx="320040" cy="384048"/>
          </a:xfrm>
          <a:prstGeom prst="downArrow">
            <a:avLst/>
          </a:prstGeom>
          <a:solidFill>
            <a:srgbClr val="22A447"/>
          </a:solidFill>
          <a:ln w="12700">
            <a:solidFill>
              <a:srgbClr val="22A4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19088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A447"/>
                </a:solidFill>
              </a:rPr>
              <a:t>empurra o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2356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8208A"/>
                </a:solidFill>
              </a:rPr>
              <a:t>Caem: 2 e 3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8208A"/>
                </a:solidFill>
              </a:rPr>
              <a:t>Resposta: 2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9646920" y="1463040"/>
            <a:ext cx="1691640" cy="1828800"/>
          </a:xfrm>
          <a:prstGeom prst="roundRect">
            <a:avLst>
              <a:gd name="adj" fmla="val 2703"/>
            </a:avLst>
          </a:prstGeom>
          <a:solidFill>
            <a:srgbClr val="111827"/>
          </a:solidFill>
          <a:ln w="10160">
            <a:solidFill>
              <a:srgbClr val="1820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84080" y="1572768"/>
            <a:ext cx="141732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46920" y="11612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</a:rPr>
              <a:t>entrada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46920" y="3931920"/>
            <a:ext cx="1691640" cy="566928"/>
          </a:xfrm>
          <a:prstGeom prst="roundRect">
            <a:avLst>
              <a:gd name="adj" fmla="val 8065"/>
            </a:avLst>
          </a:prstGeom>
          <a:solidFill>
            <a:srgbClr val="111827"/>
          </a:solidFill>
          <a:ln w="10160">
            <a:solidFill>
              <a:srgbClr val="1820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84080" y="4041648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646920" y="3675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</a:rPr>
              <a:t>saída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521440" y="6272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7512" y="8595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208A"/>
                </a:solidFill>
              </a:rPr>
              <a:t>Dominós como vértices e quedas como arestas direcionadas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527048"/>
            <a:ext cx="2651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Vértices = dominós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" y="2176272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Arestas = relações de queda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935224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044952"/>
            <a:ext cx="26517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Tipo = grafo direcionado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3950208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8208A"/>
                </a:solidFill>
              </a:rPr>
              <a:t>A direção importa: x derrubar y não garante que y derrube x.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727448" y="2423160"/>
            <a:ext cx="987552" cy="0"/>
          </a:xfrm>
          <a:prstGeom prst="line">
            <a:avLst/>
          </a:prstGeom>
          <a:noFill/>
          <a:ln w="3048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693408" y="2423160"/>
            <a:ext cx="987552" cy="0"/>
          </a:xfrm>
          <a:prstGeom prst="line">
            <a:avLst/>
          </a:prstGeom>
          <a:noFill/>
          <a:ln w="3048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601968" y="2816352"/>
            <a:ext cx="960120" cy="877824"/>
          </a:xfrm>
          <a:prstGeom prst="line">
            <a:avLst/>
          </a:prstGeom>
          <a:noFill/>
          <a:ln w="2667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24528" y="2176272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24528" y="22951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99632" y="2176272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9632" y="22951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83880" y="2176272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3880" y="22951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3886200"/>
            <a:ext cx="502920" cy="502920"/>
          </a:xfrm>
          <a:prstGeom prst="ellipse">
            <a:avLst/>
          </a:prstGeom>
          <a:solidFill>
            <a:srgbClr val="7FB3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8A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7784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208A"/>
                </a:solidFill>
              </a:rPr>
              <a:t>grafo direcionado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846320" y="4892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A447"/>
                </a:solidFill>
              </a:rPr>
              <a:t>Certo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0" y="5486400"/>
            <a:ext cx="914400" cy="0"/>
          </a:xfrm>
          <a:prstGeom prst="line">
            <a:avLst/>
          </a:prstGeom>
          <a:noFill/>
          <a:ln w="25400">
            <a:solidFill>
              <a:srgbClr val="22A44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983480" y="5239512"/>
            <a:ext cx="502920" cy="502920"/>
          </a:xfrm>
          <a:prstGeom prst="ellipse">
            <a:avLst/>
          </a:prstGeom>
          <a:solidFill>
            <a:srgbClr val="22A4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53583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84848" y="5239512"/>
            <a:ext cx="502920" cy="502920"/>
          </a:xfrm>
          <a:prstGeom prst="ellipse">
            <a:avLst/>
          </a:prstGeom>
          <a:solidFill>
            <a:srgbClr val="22A4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53583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29600" y="4892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0020"/>
                </a:solidFill>
              </a:rPr>
              <a:t>Errado para o problema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942832" y="5486400"/>
            <a:ext cx="859536" cy="0"/>
          </a:xfrm>
          <a:prstGeom prst="line">
            <a:avLst/>
          </a:prstGeom>
          <a:noFill/>
          <a:ln w="25400">
            <a:solidFill>
              <a:srgbClr val="B0002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930384" y="5486400"/>
            <a:ext cx="0" cy="0"/>
          </a:xfrm>
          <a:prstGeom prst="line">
            <a:avLst/>
          </a:prstGeom>
          <a:noFill/>
          <a:ln w="25400">
            <a:solidFill>
              <a:srgbClr val="B0002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449056" y="5239512"/>
            <a:ext cx="502920" cy="502920"/>
          </a:xfrm>
          <a:prstGeom prst="ellipse">
            <a:avLst/>
          </a:prstGeom>
          <a:solidFill>
            <a:srgbClr val="B000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49056" y="53583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195560" y="5239512"/>
            <a:ext cx="502920" cy="502920"/>
          </a:xfrm>
          <a:prstGeom prst="ellipse">
            <a:avLst/>
          </a:prstGeom>
          <a:solidFill>
            <a:srgbClr val="B0002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195560" y="53583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521440" y="6272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Representação computacional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7512" y="8595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208A"/>
                </a:solidFill>
              </a:rPr>
              <a:t>Lista de adjacência com listas nativas do Python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58952" y="1261872"/>
            <a:ext cx="4389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A1B2E"/>
                </a:solidFill>
              </a:rPr>
              <a:t>Escolhemos lista de adjacência: cada posição guarda os dominós que podem cair diretamente a partir daquele vértice.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89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8208A"/>
                </a:solidFill>
              </a:rPr>
              <a:t>Exemplo de representação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37960" y="2194560"/>
            <a:ext cx="777240" cy="0"/>
          </a:xfrm>
          <a:prstGeom prst="line">
            <a:avLst/>
          </a:prstGeom>
          <a:noFill/>
          <a:ln w="2413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537960" y="2670048"/>
            <a:ext cx="777240" cy="786384"/>
          </a:xfrm>
          <a:prstGeom prst="line">
            <a:avLst/>
          </a:prstGeom>
          <a:noFill/>
          <a:ln w="2413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732520" y="3456432"/>
            <a:ext cx="777240" cy="0"/>
          </a:xfrm>
          <a:prstGeom prst="line">
            <a:avLst/>
          </a:prstGeom>
          <a:noFill/>
          <a:ln w="2413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989320" y="1947672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0665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1947672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20665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80960" y="3200400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0" y="3319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921240" y="3200400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21240" y="3319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4343400"/>
            <a:ext cx="42062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0256" y="4462272"/>
            <a:ext cx="3749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82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 [2, 3]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[]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 [4]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82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 []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989320" y="54864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5596128"/>
            <a:ext cx="4389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Adaptação da referência: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Bag → list do 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B2E"/>
                </a:solidFill>
              </a:rPr>
              <a:t>Mesma ideia, menos dependências externas.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521440" y="6272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AC7DEA-67DB-6A0C-55B2-F58670962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86" y="2439118"/>
            <a:ext cx="3619500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7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DFS/BFS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7512" y="8595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8208A"/>
                </a:solidFill>
              </a:rPr>
              <a:t>Busca em profundidade para encontrar todos os dominós alcançáveis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0898" y="5116153"/>
            <a:ext cx="4343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208A"/>
                </a:solidFill>
              </a:rPr>
              <a:t>DFS foi escolhida porque não precisamos do menor caminho: só precisamos saber quais dominós são alcançáveis.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084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208A"/>
                </a:solidFill>
              </a:rPr>
              <a:t>queda em cadeia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60920" y="2359152"/>
            <a:ext cx="0" cy="594360"/>
          </a:xfrm>
          <a:prstGeom prst="line">
            <a:avLst/>
          </a:prstGeom>
          <a:noFill/>
          <a:ln w="2794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360920" y="3657600"/>
            <a:ext cx="0" cy="603504"/>
          </a:xfrm>
          <a:prstGeom prst="line">
            <a:avLst/>
          </a:prstGeom>
          <a:noFill/>
          <a:ln w="2794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680960" y="4818888"/>
            <a:ext cx="1051560" cy="0"/>
          </a:xfrm>
          <a:prstGeom prst="line">
            <a:avLst/>
          </a:prstGeom>
          <a:noFill/>
          <a:ln w="2794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114032" y="1828800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4032" y="1947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14032" y="3127248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14032" y="32461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14032" y="4416552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14032" y="45354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0" y="4562856"/>
            <a:ext cx="502920" cy="502920"/>
          </a:xfrm>
          <a:prstGeom prst="ellipse">
            <a:avLst/>
          </a:prstGeom>
          <a:solidFill>
            <a:srgbClr val="7FB3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0" y="46817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08A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09360" y="5486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208A"/>
                </a:solidFill>
              </a:rPr>
              <a:t>DFS(1)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4964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0"/>
                </a:solidFill>
              </a:rPr>
              <a:t>visita uma vez cada vértice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521440" y="6272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85A932-0E11-D40D-1B6A-564A3C7C5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54" y="1136171"/>
            <a:ext cx="390525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3200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2400" dirty="0"/>
          </a:p>
        </p:txBody>
      </p:sp>
      <p:pic>
        <p:nvPicPr>
          <p:cNvPr id="6" name="Image 1" descr="/mnt/data/b4a9d7f6-befc-4126-aac0-4a7dd7fd4349.png"/>
          <p:cNvPicPr>
            <a:picLocks noChangeAspect="1"/>
          </p:cNvPicPr>
          <p:nvPr/>
        </p:nvPicPr>
        <p:blipFill>
          <a:blip r:embed="rId4"/>
          <a:srcRect l="489" r="489"/>
          <a:stretch/>
        </p:blipFill>
        <p:spPr>
          <a:xfrm>
            <a:off x="653757" y="1139014"/>
            <a:ext cx="5212080" cy="1508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321868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b="1" dirty="0">
              <a:solidFill>
                <a:srgbClr val="22A447"/>
              </a:solidFill>
              <a:cs typeface="Arial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385169" y="976923"/>
            <a:ext cx="2240280" cy="2560320"/>
          </a:xfrm>
          <a:prstGeom prst="roundRect">
            <a:avLst>
              <a:gd name="adj" fmla="val 2041"/>
            </a:avLst>
          </a:prstGeom>
          <a:solidFill>
            <a:srgbClr val="111827"/>
          </a:solidFill>
          <a:ln w="10160">
            <a:solidFill>
              <a:srgbClr val="18208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766560" y="1252728"/>
            <a:ext cx="1965960" cy="23408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3 2 1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Saída: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80" dirty="0"/>
          </a:p>
        </p:txBody>
      </p:sp>
      <p:sp>
        <p:nvSpPr>
          <p:cNvPr id="10" name="Shape 6"/>
          <p:cNvSpPr/>
          <p:nvPr/>
        </p:nvSpPr>
        <p:spPr>
          <a:xfrm>
            <a:off x="9372600" y="2066544"/>
            <a:ext cx="713232" cy="0"/>
          </a:xfrm>
          <a:prstGeom prst="line">
            <a:avLst/>
          </a:prstGeom>
          <a:noFill/>
          <a:ln w="2286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10707624" y="2066544"/>
            <a:ext cx="704088" cy="0"/>
          </a:xfrm>
          <a:prstGeom prst="line">
            <a:avLst/>
          </a:prstGeom>
          <a:noFill/>
          <a:ln w="22860">
            <a:solidFill>
              <a:srgbClr val="18208A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869680" y="1819656"/>
            <a:ext cx="502920" cy="502920"/>
          </a:xfrm>
          <a:prstGeom prst="ellipse">
            <a:avLst/>
          </a:prstGeom>
          <a:solidFill>
            <a:srgbClr val="0057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69680" y="1938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222992" y="1819656"/>
            <a:ext cx="502920" cy="502920"/>
          </a:xfrm>
          <a:prstGeom prst="ellipse">
            <a:avLst/>
          </a:prstGeom>
          <a:solidFill>
            <a:srgbClr val="22A4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222992" y="1938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1548872" y="1819656"/>
            <a:ext cx="502920" cy="502920"/>
          </a:xfrm>
          <a:prstGeom prst="ellipse">
            <a:avLst/>
          </a:prstGeom>
          <a:solidFill>
            <a:srgbClr val="22A44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548872" y="1938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869680" y="2743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08A"/>
                </a:solidFill>
              </a:rPr>
              <a:t>empurra o 2 → caem 2 e 3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60133" y="3347790"/>
            <a:ext cx="45720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9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76145" y="34248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08A"/>
                </a:solidFill>
              </a:rPr>
              <a:t>Complexidade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75120" y="4462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18208A"/>
              </a:solidFill>
              <a:cs typeface="Arial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183880" y="4425696"/>
            <a:ext cx="2514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200" dirty="0">
              <a:solidFill>
                <a:srgbClr val="1A1B2E"/>
              </a:solidFill>
              <a:cs typeface="Arial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11521440" y="62727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2D052B-8599-8317-687D-138F7CF70A19}"/>
              </a:ext>
            </a:extLst>
          </p:cNvPr>
          <p:cNvSpPr txBox="1"/>
          <p:nvPr/>
        </p:nvSpPr>
        <p:spPr>
          <a:xfrm>
            <a:off x="2276230" y="3842385"/>
            <a:ext cx="11899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rgbClr val="1A1B2E"/>
                </a:solidFill>
                <a:cs typeface="Arial"/>
              </a:rPr>
              <a:t>O(V + E)</a:t>
            </a:r>
            <a:endParaRPr lang="en-US" sz="1400">
              <a:cs typeface="Arial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UNIFOR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Dominoes 2 — Kattis</dc:title>
  <dc:subject>Trabalho Prático 1 — Resolução de Problemas com Grafos</dc:subject>
  <dc:creator>Arthur Gomes de Aguiar e Guilherme Adley</dc:creator>
  <cp:lastModifiedBy>Arthur Gomes de Aguiar e Guilherme Adley</cp:lastModifiedBy>
  <cp:revision>128</cp:revision>
  <dcterms:created xsi:type="dcterms:W3CDTF">2026-09-09T04:04:34Z</dcterms:created>
  <dcterms:modified xsi:type="dcterms:W3CDTF">2026-09-09T18:55:42Z</dcterms:modified>
</cp:coreProperties>
</file>