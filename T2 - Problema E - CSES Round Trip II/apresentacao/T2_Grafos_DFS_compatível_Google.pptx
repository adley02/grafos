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4"/>
    <p:sldId id="266" r:id="rId15"/>
    <p:sldId id="267" r:id="rId16"/>
    <p:sldId id="268" r:id="rId17"/>
    <p:sldId id="269" r:id="rId18"/>
    <p:sldId id="262" r:id="rId11"/>
    <p:sldId id="263" r:id="rId12"/>
    <p:sldId id="264" r:id="rId1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66928" y="2651760"/>
            <a:ext cx="6217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Round Trip II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6928" y="338328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Detecção de ciclos em grafos dirigidos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66928" y="3895344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546B"/>
                </a:solidFill>
                <a:latin typeface="Arial"/>
                <a:ea typeface="Arial"/>
                <a:cs typeface="Arial"/>
                <a:sym typeface="Arial"/>
              </a:rPr>
              <a:t>T2 — Problema E • CSES 1678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logo_crop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3383280"/>
            <a:ext cx="2834640" cy="1435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6537960" y="521208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Alunos: </a:t>
            </a:r>
            <a:r>
              <a:rPr i="1" lang="en-US" sz="1350">
                <a:solidFill>
                  <a:srgbClr val="0E1C8A"/>
                </a:solidFill>
              </a:rPr>
              <a:t>Guilherme Adley — 2020670</a:t>
            </a:r>
            <a:endParaRPr i="1" sz="1350">
              <a:solidFill>
                <a:srgbClr val="0E1C8A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50"/>
              <a:buFont typeface="Arial"/>
              <a:buNone/>
            </a:pPr>
            <a:r>
              <a:rPr i="1" lang="en-US" sz="1350">
                <a:solidFill>
                  <a:srgbClr val="0E1C8A"/>
                </a:solidFill>
              </a:rPr>
              <a:t>Arthur Gomes</a:t>
            </a:r>
            <a:r>
              <a:rPr b="0" i="1" lang="en-US" sz="13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i="1" lang="en-US" sz="1350">
                <a:solidFill>
                  <a:srgbClr val="0E1C8A"/>
                </a:solidFill>
              </a:rPr>
              <a:t>1810460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Orientador: Prof. Me. Ricardo Carubbi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Disciplina: Res. </a:t>
            </a:r>
            <a:r>
              <a:rPr i="1" lang="en-US" sz="1350">
                <a:solidFill>
                  <a:srgbClr val="0E1C8A"/>
                </a:solidFill>
              </a:rPr>
              <a:t>Grafos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Centro de Ciências Tecnológicas — CCT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Do problema à implementação final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325880" y="2322576"/>
            <a:ext cx="118872" cy="118872"/>
          </a:xfrm>
          <a:prstGeom prst="ellipse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554480" y="2240280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Problema e modelagem do grafo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325880" y="2944368"/>
            <a:ext cx="118872" cy="118872"/>
          </a:xfrm>
          <a:prstGeom prst="ellipse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554480" y="2862072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Estratégia com DFS e on_stack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25880" y="3566160"/>
            <a:ext cx="118872" cy="118872"/>
          </a:xfrm>
          <a:prstGeom prst="ellipse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554480" y="3483864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Rastreamento manual do ciclo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325880" y="4187952"/>
            <a:ext cx="118872" cy="118872"/>
          </a:xfrm>
          <a:prstGeom prst="ellipse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554480" y="4105656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Implementação em Python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25880" y="4809744"/>
            <a:ext cx="118872" cy="118872"/>
          </a:xfrm>
          <a:prstGeom prst="ellipse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554480" y="4727448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Testes, complexidade e conclusão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60" name="Google Shape;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Problema E — CSES Round Trip II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Encontrar qualquer viagem circular válida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77240" y="1828800"/>
            <a:ext cx="3291840" cy="1417320"/>
          </a:xfrm>
          <a:prstGeom prst="roundRect">
            <a:avLst>
              <a:gd fmla="val 9032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78408" y="1993392"/>
            <a:ext cx="2889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78408" y="2359152"/>
            <a:ext cx="28895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n cidades e m voos de mão única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Cada linha representa uma aresta dirigida: a → b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77240" y="3657600"/>
            <a:ext cx="3291840" cy="1417320"/>
          </a:xfrm>
          <a:prstGeom prst="roundRect">
            <a:avLst>
              <a:gd fmla="val 9032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78408" y="3822192"/>
            <a:ext cx="2889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78408" y="4187952"/>
            <a:ext cx="28895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Se existir ciclo: imprimir k e a sequência de cidades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Se não existir: imprimir IMPOSSIBLE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892040" y="2468880"/>
            <a:ext cx="621792" cy="62179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892040" y="261518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650992" y="263347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263640" y="2468880"/>
            <a:ext cx="621792" cy="62179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263640" y="261518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022592" y="263347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635240" y="2468880"/>
            <a:ext cx="621792" cy="62179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635240" y="261518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394192" y="263347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9006840" y="2468880"/>
            <a:ext cx="621792" cy="62179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9006840" y="261518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949440" y="4023360"/>
            <a:ext cx="621792" cy="621792"/>
          </a:xfrm>
          <a:prstGeom prst="ellipse">
            <a:avLst/>
          </a:prstGeom>
          <a:solidFill>
            <a:srgbClr val="F5FBFF"/>
          </a:solidFill>
          <a:ln cap="flat" cmpd="sng" w="254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949440" y="416966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263640" y="47091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6546B"/>
                </a:solidFill>
                <a:latin typeface="Arial"/>
                <a:ea typeface="Arial"/>
                <a:cs typeface="Arial"/>
                <a:sym typeface="Arial"/>
              </a:rPr>
              <a:t>voos extras para 4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92040" y="5166360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Ciclo válido: 1 → 3 → 2 → 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892040" y="5596128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B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6546B"/>
                </a:solidFill>
                <a:latin typeface="Arial"/>
                <a:ea typeface="Arial"/>
                <a:cs typeface="Arial"/>
                <a:sym typeface="Arial"/>
              </a:rPr>
              <a:t>A direção das setas importa: voo a→b não implica b→a.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Estratégia algorítmica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DFS recursiva para detectar ciclo dirigido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77240" y="1828800"/>
            <a:ext cx="3429000" cy="1325880"/>
          </a:xfrm>
          <a:prstGeom prst="roundRect">
            <a:avLst>
              <a:gd fmla="val 9655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978408" y="1993392"/>
            <a:ext cx="30266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Por que DFS?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78408" y="2359152"/>
            <a:ext cx="30266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O problema não pede o menor ciclo. Basta encontrar qualquer ciclo válido respeitando a direção das arestas.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77240" y="3520440"/>
            <a:ext cx="3429000" cy="16002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978408" y="3685032"/>
            <a:ext cx="30266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Critério do ciclo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78408" y="4050792"/>
            <a:ext cx="30266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Durante a DFS, se uma aresta v→w aponta para um vértice ainda ativo no caminho atual, então on_stack[w] = True e existe ciclo.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166360" y="2468880"/>
            <a:ext cx="621792" cy="62179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5166360" y="261518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989320" y="2606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629400" y="2468880"/>
            <a:ext cx="621792" cy="62179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629400" y="261518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452360" y="2606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092440" y="2468880"/>
            <a:ext cx="621792" cy="62179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092440" y="2615184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120640" y="3886200"/>
            <a:ext cx="3886200" cy="50292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15225">
            <a:solidFill>
              <a:srgbClr val="E6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257800" y="4032504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4B4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64B4B"/>
                </a:solidFill>
                <a:latin typeface="Arial"/>
                <a:ea typeface="Arial"/>
                <a:cs typeface="Arial"/>
                <a:sym typeface="Arial"/>
              </a:rPr>
              <a:t>aresta de retorno: 1 → 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983480" y="4800600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0 → 2 → 1 → 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Estruturas da implementação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As três listas que controlam a DFS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77240" y="1920240"/>
            <a:ext cx="2926080" cy="2286000"/>
          </a:xfrm>
          <a:prstGeom prst="roundRect">
            <a:avLst>
              <a:gd fmla="val 5600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978408" y="2084832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marked[]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78408" y="2450592"/>
            <a:ext cx="252374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Pergunta respondida: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“Esse vértice já foi visitado alguma vez?”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Evita repetir processamento.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617720" y="1920240"/>
            <a:ext cx="2926080" cy="2286000"/>
          </a:xfrm>
          <a:prstGeom prst="roundRect">
            <a:avLst>
              <a:gd fmla="val 5600" name="adj"/>
            </a:avLst>
          </a:prstGeom>
          <a:solidFill>
            <a:srgbClr val="F4FA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818888" y="2084832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on_stack[]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818888" y="2450592"/>
            <a:ext cx="252374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Pergunta respondida: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“Esse vértice ainda está no caminho atual?”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Detecta aresta de retorno.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58200" y="1920240"/>
            <a:ext cx="2926080" cy="2286000"/>
          </a:xfrm>
          <a:prstGeom prst="roundRect">
            <a:avLst>
              <a:gd fmla="val 5600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659368" y="2084832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edge_to[]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659368" y="2450592"/>
            <a:ext cx="252374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Pergunta respondida: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“De onde cheguei nesse vértice?”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Permite reconstruir o ciclo.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914400" y="49834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Resumo: marked evita repetir, on_stack detecta o ciclo e edge_to reconstrói a resposta.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14400" y="54406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B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Rastreamento manual da DFS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Momento em que o ciclo é identificado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85800" y="1691640"/>
            <a:ext cx="685800" cy="429768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740664" y="1746504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Passo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371600" y="1691640"/>
            <a:ext cx="1965960" cy="429768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1426464" y="1746504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337560" y="1691640"/>
            <a:ext cx="1965960" cy="429768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392424" y="1746504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marked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303520" y="1691640"/>
            <a:ext cx="1965960" cy="429768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358384" y="1746504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on_stack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269480" y="1691640"/>
            <a:ext cx="3657600" cy="429768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324344" y="1746504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85800" y="2121408"/>
            <a:ext cx="6858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40664" y="2176272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371600" y="2121408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426464" y="2176272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Inicial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337560" y="2121408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3392424" y="2176272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[F,F,F,F]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303520" y="2121408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358384" y="2176272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[F,F,F,F]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269480" y="2121408"/>
            <a:ext cx="36576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324344" y="2176272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Iniciar busca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85800" y="2551176"/>
            <a:ext cx="6858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40664" y="2606040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371600" y="2551176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426464" y="2606040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DFS(0)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337560" y="2551176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3392424" y="2606040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[T,F,F,F]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303520" y="2551176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358384" y="2606040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[T,F,F,F]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269480" y="2551176"/>
            <a:ext cx="36576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324344" y="2606040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Explorar 0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85800" y="2980944"/>
            <a:ext cx="6858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40664" y="3035808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371600" y="2980944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426464" y="3035808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0 → 2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337560" y="2980944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392424" y="3035808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[T,F,F,F]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303520" y="2980944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5358384" y="3035808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[T,F,F,F]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269480" y="2980944"/>
            <a:ext cx="36576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324344" y="3035808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edge_to[2]=0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85800" y="3410712"/>
            <a:ext cx="6858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40664" y="3465576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371600" y="3410712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426464" y="3465576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DFS(2)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337560" y="3410712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392424" y="3465576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303520" y="3410712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5358384" y="3465576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269480" y="3410712"/>
            <a:ext cx="36576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324344" y="3465576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Explorar 2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85800" y="3840480"/>
            <a:ext cx="6858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40664" y="3895344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371600" y="3840480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426464" y="3895344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2 → 1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337560" y="3840480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392424" y="3895344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303520" y="3840480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5358384" y="3895344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[T,F,T,F]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269480" y="3840480"/>
            <a:ext cx="36576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7324344" y="3895344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edge_to[1]=2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85800" y="4270248"/>
            <a:ext cx="6858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40664" y="4325112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371600" y="4270248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1426464" y="4325112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DFS(1)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337560" y="4270248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3392424" y="4325112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[T,T,T,F]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303520" y="4270248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358384" y="4325112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[T,T,T,F]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269480" y="4270248"/>
            <a:ext cx="36576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324344" y="4325112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Explorar 1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85800" y="4700016"/>
            <a:ext cx="6858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40664" y="4754880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371600" y="4700016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426464" y="4754880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1 → 0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337560" y="4700016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392424" y="4754880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[T,T,T,F]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303520" y="4700016"/>
            <a:ext cx="19659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358384" y="4754880"/>
            <a:ext cx="1856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[T,T,T,F]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269480" y="4700016"/>
            <a:ext cx="365760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7324344" y="4754880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on_stack[0]=True → ciclo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Ciclo reconstruído: 0 → 2 → 1 → 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255" name="Google Shape;2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Módulos reutilizados e adaptações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68680" y="1828800"/>
            <a:ext cx="3063240" cy="1508760"/>
          </a:xfrm>
          <a:prstGeom prst="roundRect">
            <a:avLst>
              <a:gd fmla="val 8485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1069848" y="1993392"/>
            <a:ext cx="2660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directed_cycle.py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069848" y="2359152"/>
            <a:ext cx="2660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Base da DFS recursiva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Usa _marked, on_stack, edge_to e cycle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572000" y="1828800"/>
            <a:ext cx="3063240" cy="1508760"/>
          </a:xfrm>
          <a:prstGeom prst="roundRect">
            <a:avLst>
              <a:gd fmla="val 8485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773168" y="1993392"/>
            <a:ext cx="2660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digraph.py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773168" y="2359152"/>
            <a:ext cx="2660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Base da representação do grafo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Cada voo é uma aresta dirigida a→b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275320" y="1828800"/>
            <a:ext cx="3063240" cy="1508760"/>
          </a:xfrm>
          <a:prstGeom prst="roundRect">
            <a:avLst>
              <a:gd fmla="val 8485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476488" y="1993392"/>
            <a:ext cx="2660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bag.py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8476488" y="2359152"/>
            <a:ext cx="2660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Estrutura auxiliar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Armazena vizinhos nas listas de adjacência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188720" y="384048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directed_cycle.py  →  digraph.py  →  bag.py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325880" y="4663440"/>
            <a:ext cx="9509760" cy="868680"/>
          </a:xfrm>
          <a:prstGeom prst="roundRect">
            <a:avLst>
              <a:gd fmla="val 14737" name="adj"/>
            </a:avLst>
          </a:prstGeom>
          <a:solidFill>
            <a:srgbClr val="F5FB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1527048" y="4828032"/>
            <a:ext cx="91074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Principais adaptações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527048" y="5193792"/>
            <a:ext cx="91074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Entrada padrão do CSES • conversão 1..n ↔ 0..n-1 • saída com k + ciclo • IMPOSSIBLE • limite de recursão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284" name="Google Shape;2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Testes executados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Casos usados para validar a solução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68680" y="1874520"/>
            <a:ext cx="2103120" cy="512064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923544" y="1929384"/>
            <a:ext cx="19933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2971800" y="1874520"/>
            <a:ext cx="4663440" cy="512064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3026664" y="1929384"/>
            <a:ext cx="45537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7635240" y="1874520"/>
            <a:ext cx="3657600" cy="512064"/>
          </a:xfrm>
          <a:prstGeom prst="rect">
            <a:avLst/>
          </a:prstGeom>
          <a:solidFill>
            <a:srgbClr val="0E1C8A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7690104" y="1929384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esperado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68680" y="2386584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923544" y="2441448"/>
            <a:ext cx="19933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Exemplo oficial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2971800" y="2386584"/>
            <a:ext cx="46634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026664" y="2441448"/>
            <a:ext cx="45537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Ciclo 1→3→2→1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635240" y="2386584"/>
            <a:ext cx="36576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690104" y="2441448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k + sequência do ciclo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68680" y="2898648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923544" y="2953512"/>
            <a:ext cx="19933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Sem ciclo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2971800" y="2898648"/>
            <a:ext cx="46634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3026664" y="2953512"/>
            <a:ext cx="45537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Caminho 1→2→3→4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7635240" y="2898648"/>
            <a:ext cx="36576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7690104" y="2953512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IMPOSSIBLE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868680" y="3410712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923544" y="3465576"/>
            <a:ext cx="19933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Componente separada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2971800" y="3410712"/>
            <a:ext cx="46634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3026664" y="3465576"/>
            <a:ext cx="45537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Ciclo em parte desconexa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7635240" y="3410712"/>
            <a:ext cx="36576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7690104" y="3465576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Encontrar 3→4→5→3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68680" y="3922776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923544" y="3977640"/>
            <a:ext cx="19933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Ciclo de 2 vértices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2971800" y="3922776"/>
            <a:ext cx="46634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026664" y="3977640"/>
            <a:ext cx="45537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1→2→1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7635240" y="3922776"/>
            <a:ext cx="36576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7690104" y="397764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Sequência fechada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2971800" y="5166360"/>
            <a:ext cx="6309360" cy="731520"/>
          </a:xfrm>
          <a:prstGeom prst="roundRect">
            <a:avLst>
              <a:gd fmla="val 17500" name="adj"/>
            </a:avLst>
          </a:prstGeom>
          <a:solidFill>
            <a:srgbClr val="F5FB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172968" y="5330952"/>
            <a:ext cx="5907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Evidência final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172968" y="5696712"/>
            <a:ext cx="5907024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Após a submissão, inserir o print do status Accepted no repositório.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6FE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0" y="6446520"/>
            <a:ext cx="914400" cy="411480"/>
          </a:xfrm>
          <a:prstGeom prst="rect">
            <a:avLst/>
          </a:prstGeom>
          <a:solidFill>
            <a:srgbClr val="7FAEEC"/>
          </a:solidFill>
          <a:ln cap="flat" cmpd="sng" w="12700">
            <a:solidFill>
              <a:srgbClr val="7FA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914400" y="6446520"/>
            <a:ext cx="2560320" cy="411480"/>
          </a:xfrm>
          <a:prstGeom prst="rect">
            <a:avLst/>
          </a:prstGeom>
          <a:solidFill>
            <a:srgbClr val="0E1C8A"/>
          </a:solidFill>
          <a:ln cap="flat" cmpd="sng" w="12700">
            <a:solidFill>
              <a:srgbClr val="0E1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8183880" y="6510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de Fortaleza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unifor_icon_crop.png" id="333" name="Google Shape;3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48" y="5852160"/>
            <a:ext cx="32918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/>
          <p:nvPr/>
        </p:nvSpPr>
        <p:spPr>
          <a:xfrm>
            <a:off x="530352" y="411480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30352" y="749808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530352" y="1088136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530352" y="1426464"/>
            <a:ext cx="146304" cy="146304"/>
          </a:xfrm>
          <a:prstGeom prst="ellipse">
            <a:avLst/>
          </a:prstGeom>
          <a:solidFill>
            <a:srgbClr val="0057FF"/>
          </a:solidFill>
          <a:ln cap="flat" cmpd="sng" w="12700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1143000" y="42062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Complexidade e conclusão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143000" y="960120"/>
            <a:ext cx="9875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868680" y="1874520"/>
            <a:ext cx="3246120" cy="2057400"/>
          </a:xfrm>
          <a:prstGeom prst="roundRect">
            <a:avLst>
              <a:gd fmla="val 6222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1069848" y="2039112"/>
            <a:ext cx="28437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Tempo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1069848" y="2404872"/>
            <a:ext cx="28437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O(V + E)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Cada vértice é visitado no máximo uma vez e cada aresta é analisada pela lista de adjacência.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480560" y="1874520"/>
            <a:ext cx="3246120" cy="2057400"/>
          </a:xfrm>
          <a:prstGeom prst="roundRect">
            <a:avLst>
              <a:gd fmla="val 6222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4681728" y="2039112"/>
            <a:ext cx="28437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Espaço auxiliar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681728" y="2404872"/>
            <a:ext cx="28437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O(V)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marked[], on_stack[], edge_to[], ciclo e pilha de chamadas da DFS.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092440" y="1874520"/>
            <a:ext cx="3246120" cy="2057400"/>
          </a:xfrm>
          <a:prstGeom prst="roundRect">
            <a:avLst>
              <a:gd fmla="val 6222" name="adj"/>
            </a:avLst>
          </a:prstGeom>
          <a:solidFill>
            <a:srgbClr val="FFFFFF"/>
          </a:solidFill>
          <a:ln cap="flat" cmpd="sng" w="13950">
            <a:solidFill>
              <a:srgbClr val="D7EAFE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8293608" y="2039112"/>
            <a:ext cx="28437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Espaço total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8293608" y="2404872"/>
            <a:ext cx="28437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O(V + E)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Considerando também a representação do grafo em listas de adjacência.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868680" y="4572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7FF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2971800" y="455371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C8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A DFS com on_stack detecta uma aresta de retorno; edge_to para reconstr</a:t>
            </a:r>
            <a:r>
              <a:rPr lang="en-US" sz="1650">
                <a:solidFill>
                  <a:srgbClr val="0E1C8A"/>
                </a:solidFill>
              </a:rPr>
              <a:t>uir</a:t>
            </a:r>
            <a:r>
              <a:rPr b="0" i="0" lang="en-US" sz="1650" u="none" cap="none" strike="noStrike">
                <a:solidFill>
                  <a:srgbClr val="0E1C8A"/>
                </a:solidFill>
                <a:latin typeface="Arial"/>
                <a:ea typeface="Arial"/>
                <a:cs typeface="Arial"/>
                <a:sym typeface="Arial"/>
              </a:rPr>
              <a:t> o ciclo</a:t>
            </a:r>
            <a:r>
              <a:rPr lang="en-US" sz="1650">
                <a:solidFill>
                  <a:srgbClr val="0E1C8A"/>
                </a:solidFill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s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